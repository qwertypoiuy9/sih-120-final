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sih-120-final.vercel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sih-120-final.vercel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18288" rIns="18288" tIns="9144" bIns="9144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3283F"/>
                </a:solidFill>
                <a:latin typeface="Aptos"/>
              </a:rPr>
              <a:t>IDEA PRESENTATION | SOFTWARE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18288" rIns="18288" tIns="9144" bIns="9144"/>
          <a:lstStyle/>
          <a:p>
            <a:pPr algn="ctr"/>
            <a:r>
              <a:rPr sz="2700" b="1">
                <a:solidFill>
                  <a:srgbClr val="234D7A"/>
                </a:solidFill>
                <a:latin typeface="Georgia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5488" y="2121408"/>
            <a:ext cx="5623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78126"/>
                </a:solidFill>
                <a:latin typeface="Aptos"/>
              </a:rPr>
              <a:t>BAGHEWALA  /  WELL-TO-SURFACE DIGITAL TWIN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2395728"/>
            <a:ext cx="58064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3283F"/>
                </a:solidFill>
                <a:latin typeface="Aptos Display"/>
              </a:rPr>
              <a:t>INTEGRATED CSS + SRP
DECISION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3310128"/>
            <a:ext cx="5532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24364A"/>
                </a:solidFill>
                <a:latin typeface="Aptos"/>
              </a:rPr>
              <a:t>A running prototype that connects reservoir, wellbore and pump-system models for explainable monitoring and what-if analysis.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3913632"/>
            <a:ext cx="5486400" cy="0"/>
          </a:xfrm>
          <a:prstGeom prst="line">
            <a:avLst/>
          </a:prstGeom>
          <a:ln w="1905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" y="4050791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676B8"/>
                </a:solidFill>
                <a:latin typeface="Aptos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12848" y="4050791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283F"/>
                </a:solidFill>
                <a:latin typeface="Aptos"/>
              </a:rPr>
              <a:t>[ADD EXACT ID FROM SIH PORTAL]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4489704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676B8"/>
                </a:solidFill>
                <a:latin typeface="Aptos"/>
              </a:rPr>
              <a:t>PROBLEM STATEMENT TITLE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12848" y="4489704"/>
            <a:ext cx="3822191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3283F"/>
                </a:solidFill>
                <a:latin typeface="Aptos"/>
              </a:rPr>
              <a:t>Digital Twin for Well-to-Surface Optimization of Cyclic Steam Stimulation (CSS) and Sucker Rod Pump (SRP) Operations for Heavy Oil Wells of Baghewala Field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5184648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676B8"/>
                </a:solidFill>
                <a:latin typeface="Aptos"/>
              </a:rPr>
              <a:t>THEME  /  CATEGORY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12848" y="5184648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283F"/>
                </a:solidFill>
                <a:latin typeface="Aptos"/>
              </a:rPr>
              <a:t>Smart Automation  /  Software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5623560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676B8"/>
                </a:solidFill>
                <a:latin typeface="Aptos"/>
              </a:rPr>
              <a:t>TEAM ID  /  REGISTERED TEAM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2848" y="5623560"/>
            <a:ext cx="382219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3283F"/>
                </a:solidFill>
                <a:latin typeface="Aptos"/>
              </a:rPr>
              <a:t>[ADD TEAM ID]  /  [ADD REGISTERED TEAM NAME]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6199632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627387"/>
                </a:solidFill>
                <a:latin typeface="Aptos"/>
                <a:hlinkClick r:id="rId4"/>
              </a:rPr>
              <a:t>LIVE DEMO | SIH-120-FINAL.VERCEL.APP | SIMULATED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lIns="18288" rIns="18288" tIns="9144" bIns="9144"/>
          <a:lstStyle/>
          <a:p>
            <a:pPr eaLnBrk="1" hangingPunct="1" algn="ctr"/>
            <a:r>
              <a:rPr sz="2200" b="1">
                <a:solidFill>
                  <a:srgbClr val="13283F"/>
                </a:solidFill>
                <a:latin typeface="Georgia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18288" rIns="18288" tIns="9144" bIns="9144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840" b="1">
                <a:solidFill>
                  <a:srgbClr val="FFFFFF"/>
                </a:solidFill>
                <a:latin typeface="Aptos"/>
              </a:rPr>
              <a:t>BAGHEWALA DIGITAL TWIN |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13283F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66928" y="1115568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3283F"/>
                </a:solidFill>
                <a:latin typeface="Aptos"/>
              </a:rPr>
              <a:t>BAGHEWALA DIGITAL TWIN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76072" y="158191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27387"/>
                </a:solidFill>
                <a:latin typeface="Aptos"/>
              </a:rPr>
              <a:t>Integrated CSS + SRP decision support for heavy-oil wells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85216" y="195681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>
                <a:solidFill>
                  <a:srgbClr val="BB4D43"/>
                </a:solidFill>
                <a:latin typeface="Aptos"/>
              </a:rPr>
              <a:t>THE PROBLEM | A COUPLED FAILURE CHAIN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594360" y="2221992"/>
            <a:ext cx="2194560" cy="640080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85800" y="2322576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283F"/>
                </a:solidFill>
                <a:latin typeface="Aptos"/>
              </a:rPr>
              <a:t>CSS heat
declines</a:t>
            </a:r>
          </a:p>
        </p:txBody>
      </p:sp>
      <p:sp>
        <p:nvSpPr>
          <p:cNvPr id="15367" name="Chevron 15366"/>
          <p:cNvSpPr/>
          <p:nvPr/>
        </p:nvSpPr>
        <p:spPr>
          <a:xfrm>
            <a:off x="2953512" y="2404872"/>
            <a:ext cx="347472" cy="274320"/>
          </a:xfrm>
          <a:prstGeom prst="chevron">
            <a:avLst/>
          </a:prstGeom>
          <a:solidFill>
            <a:srgbClr val="D78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3438144" y="2221992"/>
            <a:ext cx="2194560" cy="640080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3529584" y="2322576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283F"/>
                </a:solidFill>
                <a:latin typeface="Aptos"/>
              </a:rPr>
              <a:t>Oil viscosity
rises</a:t>
            </a:r>
          </a:p>
        </p:txBody>
      </p:sp>
      <p:sp>
        <p:nvSpPr>
          <p:cNvPr id="15370" name="Chevron 15369"/>
          <p:cNvSpPr/>
          <p:nvPr/>
        </p:nvSpPr>
        <p:spPr>
          <a:xfrm>
            <a:off x="5797296" y="2404872"/>
            <a:ext cx="347472" cy="274320"/>
          </a:xfrm>
          <a:prstGeom prst="chevron">
            <a:avLst/>
          </a:prstGeom>
          <a:solidFill>
            <a:srgbClr val="D78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6281928" y="2221992"/>
            <a:ext cx="2194560" cy="640080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6373368" y="2322576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283F"/>
                </a:solidFill>
                <a:latin typeface="Aptos"/>
              </a:rPr>
              <a:t>Pump / rod
loads shift</a:t>
            </a:r>
          </a:p>
        </p:txBody>
      </p:sp>
      <p:sp>
        <p:nvSpPr>
          <p:cNvPr id="15373" name="Chevron 15372"/>
          <p:cNvSpPr/>
          <p:nvPr/>
        </p:nvSpPr>
        <p:spPr>
          <a:xfrm>
            <a:off x="8641080" y="2404872"/>
            <a:ext cx="347472" cy="274320"/>
          </a:xfrm>
          <a:prstGeom prst="chevron">
            <a:avLst/>
          </a:prstGeom>
          <a:solidFill>
            <a:srgbClr val="BB4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9125712" y="2221992"/>
            <a:ext cx="2194560" cy="640080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9217152" y="2322576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283F"/>
                </a:solidFill>
                <a:latin typeface="Aptos"/>
              </a:rPr>
              <a:t>Risk, energy loss
&amp; lower recovery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94360" y="3090672"/>
            <a:ext cx="3547872" cy="219456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594360" y="3200400"/>
            <a:ext cx="64008" cy="1975104"/>
          </a:xfrm>
          <a:prstGeom prst="roundRect">
            <a:avLst/>
          </a:prstGeom>
          <a:solidFill>
            <a:srgbClr val="16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777240" y="320954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676B8"/>
                </a:solidFill>
                <a:latin typeface="Aptos"/>
              </a:rPr>
              <a:t>PROPOSED SOLUTION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77240" y="34564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13283F"/>
                </a:solidFill>
                <a:latin typeface="Aptos"/>
              </a:rPr>
              <a:t>One shared well model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777240" y="3913632"/>
            <a:ext cx="3200400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Connect reservoir temperature to estimated viscosity, wellbore conditions, rod/pump loading and production estimates.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Compare CSS and SRP scenarios in one operator workflow.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325112" y="3090672"/>
            <a:ext cx="3547872" cy="2194560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Rounded Rectangle 15381"/>
          <p:cNvSpPr/>
          <p:nvPr/>
        </p:nvSpPr>
        <p:spPr>
          <a:xfrm>
            <a:off x="4325112" y="3200400"/>
            <a:ext cx="64008" cy="1975104"/>
          </a:xfrm>
          <a:prstGeom prst="roundRect">
            <a:avLst/>
          </a:prstGeom>
          <a:solidFill>
            <a:srgbClr val="11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4507992" y="320954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17D78"/>
                </a:solidFill>
                <a:latin typeface="Aptos"/>
              </a:rPr>
              <a:t>HOW IT ADDRESSES THE PROBLEM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507992" y="34564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13283F"/>
                </a:solidFill>
                <a:latin typeface="Aptos"/>
              </a:rPr>
              <a:t>From reactive to informed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507992" y="3913632"/>
            <a:ext cx="3200400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Surface how reservoir cooling can affect viscous flow and pumping risk.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Show model alerts and compare options before a simulated change.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8055864" y="3090672"/>
            <a:ext cx="3547872" cy="2194560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8055864" y="3200400"/>
            <a:ext cx="64008" cy="1975104"/>
          </a:xfrm>
          <a:prstGeom prst="roundRect">
            <a:avLst/>
          </a:prstGeom>
          <a:solidFill>
            <a:srgbClr val="D78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8238744" y="320954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D78126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8238744" y="34564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1" i="0">
                <a:solidFill>
                  <a:srgbClr val="13283F"/>
                </a:solidFill>
                <a:latin typeface="Aptos"/>
              </a:rPr>
              <a:t>Integration + explainability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8238744" y="3913632"/>
            <a:ext cx="3200400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Cause-to-effect view across reservoir, wellbore and SRP instead of isolated dashboards.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>
                <a:solidFill>
                  <a:srgbClr val="24364A"/>
                </a:solidFill>
                <a:latin typeface="Aptos"/>
              </a:rPr>
              <a:t>What-if is separated from state-changing demo controls; engineer stays in control.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03504" y="5477256"/>
            <a:ext cx="10991088" cy="512064"/>
          </a:xfrm>
          <a:prstGeom prst="roundRect">
            <a:avLst/>
          </a:prstGeom>
          <a:solidFill>
            <a:srgbClr val="13283F"/>
          </a:solidFill>
          <a:ln w="10160">
            <a:solidFill>
              <a:srgbClr val="13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TextBox 15391"/>
          <p:cNvSpPr txBox="1"/>
          <p:nvPr/>
        </p:nvSpPr>
        <p:spPr>
          <a:xfrm>
            <a:off x="804672" y="5577840"/>
            <a:ext cx="10588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PROTOTYPE TODAY: simulated telemetry + simplified model + rule-based insights  |  FIELD AI / AUTO-CONTROL: future, only after data validation and safety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rIns="18288" tIns="9144" bIns="9144"/>
          <a:lstStyle/>
          <a:p>
            <a:pPr eaLnBrk="1" hangingPunct="1" algn="ctr"/>
            <a:r>
              <a:rPr sz="2200" b="1">
                <a:solidFill>
                  <a:srgbClr val="13283F"/>
                </a:solidFill>
                <a:latin typeface="Georgia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18288" rIns="18288" tIns="9144" bIns="9144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defRPr/>
            </a:pPr>
            <a:r>
              <a:rPr sz="840" b="1">
                <a:solidFill>
                  <a:srgbClr val="FFFFFF"/>
                </a:solidFill>
                <a:latin typeface="Aptos"/>
              </a:rPr>
              <a:t>BAGHEWALA DIGITAL TWIN | SIH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13283F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3504" y="1124712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>
                <a:solidFill>
                  <a:srgbClr val="1676B8"/>
                </a:solidFill>
                <a:latin typeface="Aptos"/>
              </a:rPr>
              <a:t>METHODOLOGY | THE RUNNING MODEL CHAIN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444752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713232" y="1517904"/>
            <a:ext cx="420624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1676B8"/>
                </a:solidFill>
                <a:latin typeface="Aptos"/>
              </a:rPr>
              <a:t>01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61872" y="150876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Simulated well state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75887" y="1517904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7387"/>
                </a:solidFill>
                <a:latin typeface="Aptos"/>
              </a:rPr>
              <a:t>REST API / scenario preset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923544" y="1901952"/>
            <a:ext cx="0" cy="118872"/>
          </a:xfrm>
          <a:prstGeom prst="line">
            <a:avLst/>
          </a:prstGeom>
          <a:ln w="1397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612648" y="2020824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713232" y="2093976"/>
            <a:ext cx="420624" cy="310896"/>
          </a:xfrm>
          <a:prstGeom prst="roundRect">
            <a:avLst/>
          </a:prstGeom>
          <a:solidFill>
            <a:srgbClr val="FFF3E3"/>
          </a:solidFill>
          <a:ln w="254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D78126"/>
                </a:solidFill>
                <a:latin typeface="Aptos"/>
              </a:rPr>
              <a:t>02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61872" y="2084832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Thermal + viscosity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675887" y="2093976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10" b="0">
                <a:solidFill>
                  <a:srgbClr val="627387"/>
                </a:solidFill>
                <a:latin typeface="Aptos"/>
              </a:rPr>
              <a:t>Cooling changes estimated viscosity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923544" y="2478024"/>
            <a:ext cx="0" cy="118872"/>
          </a:xfrm>
          <a:prstGeom prst="line">
            <a:avLst/>
          </a:prstGeom>
          <a:ln w="1397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612648" y="2596896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713232" y="2670048"/>
            <a:ext cx="420624" cy="310896"/>
          </a:xfrm>
          <a:prstGeom prst="roundRect">
            <a:avLst/>
          </a:prstGeom>
          <a:solidFill>
            <a:srgbClr val="E9F5F3"/>
          </a:solidFill>
          <a:ln w="254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117D78"/>
                </a:solidFill>
                <a:latin typeface="Aptos"/>
              </a:rPr>
              <a:t>03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261872" y="266090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Wellbore profiles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675887" y="2670048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10" b="0">
                <a:solidFill>
                  <a:srgbClr val="627387"/>
                </a:solidFill>
                <a:latin typeface="Aptos"/>
              </a:rPr>
              <a:t>Depth-wise temperature / pressure / viscosity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923544" y="3054096"/>
            <a:ext cx="0" cy="118872"/>
          </a:xfrm>
          <a:prstGeom prst="line">
            <a:avLst/>
          </a:prstGeom>
          <a:ln w="1397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612648" y="3172968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713232" y="3246120"/>
            <a:ext cx="420624" cy="310896"/>
          </a:xfrm>
          <a:prstGeom prst="roundRect">
            <a:avLst/>
          </a:prstGeom>
          <a:solidFill>
            <a:srgbClr val="FAECEA"/>
          </a:solidFill>
          <a:ln w="254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BB4D43"/>
                </a:solidFill>
                <a:latin typeface="Aptos"/>
              </a:rPr>
              <a:t>04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261872" y="3236976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Rod + dynamometer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675887" y="3246120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7387"/>
                </a:solidFill>
                <a:latin typeface="Aptos"/>
              </a:rPr>
              <a:t>Load &amp; classifier risk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923544" y="3630168"/>
            <a:ext cx="0" cy="118871"/>
          </a:xfrm>
          <a:prstGeom prst="line">
            <a:avLst/>
          </a:prstGeom>
          <a:ln w="1397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Rounded Rectangle 17430"/>
          <p:cNvSpPr/>
          <p:nvPr/>
        </p:nvSpPr>
        <p:spPr>
          <a:xfrm>
            <a:off x="612648" y="3749039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713232" y="3822191"/>
            <a:ext cx="420624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1676B8"/>
                </a:solidFill>
                <a:latin typeface="Aptos"/>
              </a:rPr>
              <a:t>05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261872" y="3813048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Surface + flow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675887" y="3822191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627387"/>
                </a:solidFill>
                <a:latin typeface="Aptos"/>
              </a:rPr>
              <a:t>Power / vibration / Q estimate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23544" y="4206240"/>
            <a:ext cx="0" cy="118872"/>
          </a:xfrm>
          <a:prstGeom prst="line">
            <a:avLst/>
          </a:prstGeom>
          <a:ln w="13970">
            <a:solidFill>
              <a:srgbClr val="1676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612648" y="4325112"/>
            <a:ext cx="527608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713232" y="4398264"/>
            <a:ext cx="420624" cy="310896"/>
          </a:xfrm>
          <a:prstGeom prst="roundRect">
            <a:avLst/>
          </a:prstGeom>
          <a:solidFill>
            <a:srgbClr val="E9F5F3"/>
          </a:solidFill>
          <a:ln w="254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117D78"/>
                </a:solidFill>
                <a:latin typeface="Aptos"/>
              </a:rPr>
              <a:t>06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261872" y="4389120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3283F"/>
                </a:solidFill>
                <a:latin typeface="Aptos"/>
              </a:rPr>
              <a:t>Decision UI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675887" y="4398264"/>
            <a:ext cx="20482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10" b="0">
                <a:solidFill>
                  <a:srgbClr val="627387"/>
                </a:solidFill>
                <a:latin typeface="Aptos"/>
              </a:rPr>
              <a:t>Charts | alerts | what-if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44768" y="1444752"/>
            <a:ext cx="5440680" cy="3319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1" name="Picture 17440" descr="baghewala-overview-au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545336"/>
            <a:ext cx="5239512" cy="3008376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6309360" y="4572000"/>
            <a:ext cx="5074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1">
                <a:solidFill>
                  <a:srgbClr val="117D78"/>
                </a:solidFill>
                <a:latin typeface="Aptos"/>
              </a:rPr>
              <a:t>RUNNING PROTOTYPE | OVERVIEW / DEMO WELL | SIMULATED VALUES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21792" y="505663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676B8"/>
                </a:solidFill>
                <a:latin typeface="Aptos"/>
              </a:rPr>
              <a:t>TECHNOLOGIES USED IN THE WORKING PROTOTYPE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21792" y="5321808"/>
            <a:ext cx="1600200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React + TypeScript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2304288" y="5321808"/>
            <a:ext cx="896112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Three.js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273552" y="5321808"/>
            <a:ext cx="1481328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FastAPI + Python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846320" y="5321808"/>
            <a:ext cx="749808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NumPy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669280" y="5321808"/>
            <a:ext cx="950976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REST API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6702552" y="5321808"/>
            <a:ext cx="1618488" cy="310896"/>
          </a:xfrm>
          <a:prstGeom prst="roundRect">
            <a:avLst/>
          </a:prstGeom>
          <a:solidFill>
            <a:srgbClr val="EAF3FA"/>
          </a:solidFill>
          <a:ln w="254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676B8"/>
                </a:solidFill>
                <a:latin typeface="Aptos"/>
              </a:rPr>
              <a:t>Zustand + Recharts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8476488" y="5138928"/>
            <a:ext cx="3099816" cy="694944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622792" y="5221224"/>
            <a:ext cx="2816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78126"/>
                </a:solidFill>
                <a:latin typeface="Aptos"/>
              </a:rPr>
              <a:t>NEXT VALIDATION GATE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622792" y="5413248"/>
            <a:ext cx="2816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3283F"/>
                </a:solidFill>
                <a:latin typeface="Aptos"/>
              </a:rPr>
              <a:t>Field historian, calibrated models, shadow-mode advisory AI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30936" y="5843016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27387"/>
                </a:solidFill>
                <a:latin typeface="Aptos"/>
              </a:rPr>
              <a:t>Production deployment would require durable storage / streaming; Vercel demo state is not a field historian or control plane.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rIns="18288" tIns="9144" bIns="9144"/>
          <a:lstStyle/>
          <a:p>
            <a:pPr eaLnBrk="1" hangingPunct="1" algn="ctr"/>
            <a:r>
              <a:rPr sz="2200" b="1">
                <a:solidFill>
                  <a:srgbClr val="13283F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18288" rIns="18288" tIns="9144" bIns="9144"/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sz="840" b="1">
                <a:solidFill>
                  <a:srgbClr val="FFFFFF"/>
                </a:solidFill>
                <a:latin typeface="Aptos"/>
              </a:rPr>
              <a:t>BAGHEWALA DIGITAL TWIN |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13283F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3504" y="1115568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76B8"/>
                </a:solidFill>
                <a:latin typeface="Aptos"/>
              </a:rPr>
              <a:t>ANALYSIS OF FEASIBILITY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94360" y="1389888"/>
            <a:ext cx="3566160" cy="134416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594360" y="1499616"/>
            <a:ext cx="64008" cy="1124712"/>
          </a:xfrm>
          <a:prstGeom prst="roundRect">
            <a:avLst/>
          </a:prstGeom>
          <a:solidFill>
            <a:srgbClr val="167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77240" y="1508760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676B8"/>
                </a:solidFill>
                <a:latin typeface="Aptos"/>
              </a:rPr>
              <a:t>WORKING NOW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77240" y="175564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83F"/>
                </a:solidFill>
                <a:latin typeface="Aptos"/>
              </a:rPr>
              <a:t>Deployable software demo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77240" y="2212848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90" b="0">
                <a:solidFill>
                  <a:srgbClr val="24364A"/>
                </a:solidFill>
                <a:latin typeface="Aptos"/>
              </a:rPr>
              <a:t>React + FastAPI prototype is live; model, dashboards and what-if endpoints run with simulated state.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15968" y="1389888"/>
            <a:ext cx="3566160" cy="1344168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315968" y="1499616"/>
            <a:ext cx="64008" cy="1124712"/>
          </a:xfrm>
          <a:prstGeom prst="roundRect">
            <a:avLst/>
          </a:prstGeom>
          <a:solidFill>
            <a:srgbClr val="11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498848" y="1508760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17D78"/>
                </a:solidFill>
                <a:latin typeface="Aptos"/>
              </a:rPr>
              <a:t>DATA PATH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498848" y="175564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83F"/>
                </a:solidFill>
                <a:latin typeface="Aptos"/>
              </a:rPr>
              <a:t>Field inputs are identified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498848" y="2212848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300"/>
              </a:spcAft>
            </a:pPr>
            <a:r>
              <a:rPr sz="1090" b="0">
                <a:solidFill>
                  <a:srgbClr val="24364A"/>
                </a:solidFill>
                <a:latin typeface="Aptos"/>
              </a:rPr>
              <a:t>PS lists production, CSS, steam, VFD/SRP, failure, completion, reservoir and fluid records.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37575" y="1389888"/>
            <a:ext cx="3566160" cy="1344168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8037575" y="1499616"/>
            <a:ext cx="64008" cy="1124712"/>
          </a:xfrm>
          <a:prstGeom prst="roundRect">
            <a:avLst/>
          </a:prstGeom>
          <a:solidFill>
            <a:srgbClr val="D78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220455" y="1508760"/>
            <a:ext cx="3218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D78126"/>
                </a:solidFill>
                <a:latin typeface="Aptos"/>
              </a:rPr>
              <a:t>VIABILITY GATE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220455" y="175564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3283F"/>
                </a:solidFill>
                <a:latin typeface="Aptos"/>
              </a:rPr>
              <a:t>Advisory before automation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220455" y="2212848"/>
            <a:ext cx="32186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90" b="0">
                <a:solidFill>
                  <a:srgbClr val="24364A"/>
                </a:solidFill>
                <a:latin typeface="Aptos"/>
              </a:rPr>
              <a:t>Start offline, then shadow mode, then operator-approved advisory; no writes until formal safety approval.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2648" y="294436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BB4D43"/>
                </a:solidFill>
                <a:latin typeface="Aptos"/>
              </a:rPr>
              <a:t>POTENTIAL CHALLENGES &amp; RISKS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99632" y="2944368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8066"/>
                </a:solidFill>
                <a:latin typeface="Aptos"/>
              </a:rPr>
              <a:t>STRATEGIES TO OVERCOME THEM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2648" y="3264408"/>
            <a:ext cx="5074920" cy="3931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49808" y="33192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3283F"/>
                </a:solidFill>
                <a:latin typeface="Aptos"/>
              </a:rPr>
              <a:t>Sparse / inconsistent records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07024" y="3264408"/>
            <a:ext cx="5650992" cy="3931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044184" y="3310127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24364A"/>
                </a:solidFill>
                <a:latin typeface="Aptos"/>
              </a:rPr>
              <a:t>Audit units, timestamps, well IDs; quantify missingness.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2648" y="3749039"/>
            <a:ext cx="5074920" cy="3931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749808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3283F"/>
                </a:solidFill>
                <a:latin typeface="Aptos"/>
              </a:rPr>
              <a:t>Heavy-oil model mismatch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907024" y="3749039"/>
            <a:ext cx="5650992" cy="3931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6044184" y="3794759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24364A"/>
                </a:solidFill>
                <a:latin typeface="Aptos"/>
              </a:rPr>
              <a:t>Calibrate by well / cycle; validate on held-out periods.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12648" y="4233672"/>
            <a:ext cx="5074920" cy="3931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49808" y="428853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3283F"/>
                </a:solidFill>
                <a:latin typeface="Aptos"/>
              </a:rPr>
              <a:t>False alerts / operator overload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907024" y="4233672"/>
            <a:ext cx="5650992" cy="3931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6044184" y="4279392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24364A"/>
                </a:solidFill>
                <a:latin typeface="Aptos"/>
              </a:rPr>
              <a:t>Tune thresholds; track precision, recall and false alarms.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2648" y="4718304"/>
            <a:ext cx="5074920" cy="3931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47731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3283F"/>
                </a:solidFill>
                <a:latin typeface="Aptos"/>
              </a:rPr>
              <a:t>Cyber / operational safety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907024" y="4718304"/>
            <a:ext cx="5650992" cy="3931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044184" y="4764024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24364A"/>
                </a:solidFill>
                <a:latin typeface="Aptos"/>
              </a:rPr>
              <a:t>Read-only shadow mode; access controls, interlocks, sign-off.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12648" y="5202936"/>
            <a:ext cx="5074920" cy="3931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49808" y="525779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3283F"/>
                </a:solidFill>
                <a:latin typeface="Aptos"/>
              </a:rPr>
              <a:t>Demo state is not persistent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907024" y="5202936"/>
            <a:ext cx="5650992" cy="3931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6044184" y="5248655"/>
            <a:ext cx="53675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24364A"/>
                </a:solidFill>
                <a:latin typeface="Aptos"/>
              </a:rPr>
              <a:t>Add durable database + event stream before field deployment.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40080" y="5797296"/>
            <a:ext cx="10881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90" b="1">
                <a:solidFill>
                  <a:srgbClr val="1676B8"/>
                </a:solidFill>
                <a:latin typeface="Aptos"/>
              </a:rPr>
              <a:t>VIABILITY PATH | REPLAY HISTORICAL DATA -&gt; CALIBRATE / VALIDATE -&gt; SHADOW MODE -&gt; APPROVED ADVISORY PILOT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rIns="18288" tIns="9144" bIns="9144"/>
          <a:lstStyle/>
          <a:p>
            <a:pPr eaLnBrk="1" hangingPunct="1" algn="ctr"/>
            <a:r>
              <a:rPr sz="2200" b="1">
                <a:solidFill>
                  <a:srgbClr val="13283F"/>
                </a:solidFill>
                <a:latin typeface="Georgia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18288" rIns="18288" tIns="9144" bIns="9144"/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sz="840" b="1">
                <a:solidFill>
                  <a:srgbClr val="FFFFFF"/>
                </a:solidFill>
                <a:latin typeface="Aptos"/>
              </a:rPr>
              <a:t>BAGHEWALA DIGITAL TWIN |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13283F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3504" y="1115568"/>
            <a:ext cx="4297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1">
                <a:solidFill>
                  <a:srgbClr val="1676B8"/>
                </a:solidFill>
                <a:latin typeface="Aptos"/>
              </a:rPr>
              <a:t>POTENTIAL IMPACT ON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389888"/>
            <a:ext cx="2487168" cy="786384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22376" y="1499616"/>
            <a:ext cx="22677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676B8"/>
                </a:solidFill>
                <a:latin typeface="Aptos"/>
              </a:rPr>
              <a:t>PETROLEUM / RESERVOIR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22376" y="1737360"/>
            <a:ext cx="22677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3283F"/>
                </a:solidFill>
                <a:latin typeface="Aptos"/>
              </a:rPr>
              <a:t>Understand thermal-fluid context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438144" y="1389888"/>
            <a:ext cx="2487168" cy="786384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547872" y="1499616"/>
            <a:ext cx="22677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676B8"/>
                </a:solidFill>
                <a:latin typeface="Aptos"/>
              </a:rPr>
              <a:t>ARTIFICIAL LIFT / PRODUCTION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547872" y="1737360"/>
            <a:ext cx="22677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3283F"/>
                </a:solidFill>
                <a:latin typeface="Aptos"/>
              </a:rPr>
              <a:t>Compare CSS + SRP decisions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63640" y="1389888"/>
            <a:ext cx="2487168" cy="786384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6373368" y="1499616"/>
            <a:ext cx="22677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676B8"/>
                </a:solidFill>
                <a:latin typeface="Aptos"/>
              </a:rPr>
              <a:t>FIELD OPERATORS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373368" y="1737360"/>
            <a:ext cx="22677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3283F"/>
                </a:solidFill>
                <a:latin typeface="Aptos"/>
              </a:rPr>
              <a:t>See explainable, reviewable alerts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089136" y="1389888"/>
            <a:ext cx="2487168" cy="786384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9198863" y="1499616"/>
            <a:ext cx="22677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676B8"/>
                </a:solidFill>
                <a:latin typeface="Aptos"/>
              </a:rPr>
              <a:t>MAINTENANCE / ASSET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98863" y="1737360"/>
            <a:ext cx="22677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1">
                <a:solidFill>
                  <a:srgbClr val="13283F"/>
                </a:solidFill>
                <a:latin typeface="Aptos"/>
              </a:rPr>
              <a:t>Track reliability indicators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2648" y="2432304"/>
            <a:ext cx="51206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1">
                <a:solidFill>
                  <a:srgbClr val="1676B8"/>
                </a:solidFill>
                <a:latin typeface="Aptos"/>
              </a:rPr>
              <a:t>BENEFITS OF THE SOLUTION | EXPECTED, NOT YET MEASURED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21792" y="2724912"/>
            <a:ext cx="5358384" cy="850392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86384" y="2816352"/>
            <a:ext cx="50017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D78126"/>
                </a:solidFill>
                <a:latin typeface="Aptos"/>
              </a:rPr>
              <a:t>ECONOMIC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86384" y="3035808"/>
            <a:ext cx="500176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283F"/>
                </a:solidFill>
                <a:latin typeface="Aptos"/>
              </a:rPr>
              <a:t>Target: lower energy / barrel, fewer unplanned interventions, better value from steam.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217920" y="2724912"/>
            <a:ext cx="5358384" cy="850392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382512" y="2816352"/>
            <a:ext cx="50017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17D78"/>
                </a:solidFill>
                <a:latin typeface="Aptos"/>
              </a:rPr>
              <a:t>OPERATIONAL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382512" y="3035808"/>
            <a:ext cx="500176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283F"/>
                </a:solidFill>
                <a:latin typeface="Aptos"/>
              </a:rPr>
              <a:t>Earlier visibility of changing thermal / pump conditions; more consistent decisions.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21792" y="3739896"/>
            <a:ext cx="5358384" cy="850392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86384" y="3831335"/>
            <a:ext cx="50017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BB4D43"/>
                </a:solidFill>
                <a:latin typeface="Aptos"/>
              </a:rPr>
              <a:t>RELIABILITY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86384" y="4050791"/>
            <a:ext cx="500176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283F"/>
                </a:solidFill>
                <a:latin typeface="Aptos"/>
              </a:rPr>
              <a:t>Flag simulated rod-float / impact risk; future validation could support maintenance planning.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217920" y="3739896"/>
            <a:ext cx="5358384" cy="850392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6382512" y="3831335"/>
            <a:ext cx="500176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676B8"/>
                </a:solidFill>
                <a:latin typeface="Aptos"/>
              </a:rPr>
              <a:t>ENVIRONMENTAL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382512" y="4050791"/>
            <a:ext cx="5001768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3283F"/>
                </a:solidFill>
                <a:latin typeface="Aptos"/>
              </a:rPr>
              <a:t>If efficiency improves: potential reduction in steam and energy intensity per unit oil.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21792" y="4937760"/>
            <a:ext cx="10963656" cy="960120"/>
          </a:xfrm>
          <a:prstGeom prst="roundRect">
            <a:avLst/>
          </a:prstGeom>
          <a:solidFill>
            <a:srgbClr val="13283F"/>
          </a:solidFill>
          <a:ln w="10160">
            <a:solidFill>
              <a:srgbClr val="13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832104" y="5020056"/>
            <a:ext cx="22128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1">
                <a:solidFill>
                  <a:srgbClr val="8BC8DB"/>
                </a:solidFill>
                <a:latin typeface="Aptos"/>
              </a:rPr>
              <a:t>HOW A FIELD PILOT PROVES VALUE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2926080" y="530352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ptos"/>
              </a:rPr>
              <a:t>Oil rate / recovery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001768" y="530352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ptos"/>
              </a:rPr>
              <a:t>SOR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272784" y="530352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ptos"/>
              </a:rPr>
              <a:t>kWh per unit oil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348472" y="530352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ptos"/>
              </a:rPr>
              <a:t>Rod failures / unsets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0204704" y="5303520"/>
            <a:ext cx="1325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Aptos"/>
              </a:rPr>
              <a:t>Downtime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50392" y="5650992"/>
            <a:ext cx="104698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C8D6E3"/>
                </a:solidFill>
                <a:latin typeface="Aptos"/>
              </a:rPr>
              <a:t>Compare to a verified baseline; publish only measured or validated results. No quantified production, SOR, energy or failure reduction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lIns="18288" rIns="18288" tIns="9144" bIns="9144"/>
          <a:lstStyle/>
          <a:p>
            <a:pPr eaLnBrk="1" hangingPunct="1" algn="ctr"/>
            <a:r>
              <a:rPr sz="2200" b="1">
                <a:solidFill>
                  <a:srgbClr val="13283F"/>
                </a:solidFill>
                <a:latin typeface="Georgia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18288" rIns="18288" tIns="9144" bIns="9144"/>
          <a:lstStyle/>
          <a:p>
            <a:pPr marL="0" marR="0" lvl="0" indent="0" algn="ctr" defTabSz="4572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sz="840" b="1">
                <a:solidFill>
                  <a:srgbClr val="FFFFFF"/>
                </a:solidFill>
                <a:latin typeface="Aptos"/>
              </a:rPr>
              <a:t>BAGHEWALA DIGITAL TWIN | SIH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850" b="1">
                <a:solidFill>
                  <a:srgbClr val="13283F"/>
                </a:solidFill>
                <a:latin typeface="Aptos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12648" y="10972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1">
                <a:solidFill>
                  <a:srgbClr val="1676B8"/>
                </a:solidFill>
                <a:latin typeface="Aptos"/>
              </a:rPr>
              <a:t>RESEARCH BASIS | PROBLEM CONTEXT + MODEL FOUNDATIONS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2648" y="1417320"/>
            <a:ext cx="10972800" cy="749808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86384" y="1536192"/>
            <a:ext cx="204825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676B8"/>
                </a:solidFill>
                <a:latin typeface="Aptos"/>
              </a:rPr>
              <a:t>PRIMARY PROBLEM SOURCE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834640" y="1517904"/>
            <a:ext cx="848563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3283F"/>
                </a:solidFill>
                <a:latin typeface="Aptos"/>
              </a:rPr>
              <a:t>Oil India Limited / SIH 2026 problem statement supplied by the team: heavy-oil Baghewala; CSS + SRP co-optimization; available production, cycle, steam, VFD/SRP, failure and reservoir/fluid data.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1792" y="2359152"/>
            <a:ext cx="10954512" cy="640080"/>
          </a:xfrm>
          <a:prstGeom prst="roundRect">
            <a:avLst/>
          </a:prstGeom>
          <a:solidFill>
            <a:srgbClr val="FFF3E3"/>
          </a:solidFill>
          <a:ln w="10160">
            <a:solidFill>
              <a:srgbClr val="FFF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768096" y="2450592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D78126"/>
                </a:solidFill>
                <a:latin typeface="Aptos"/>
              </a:rPr>
              <a:t>CSS THERMAL DESIGN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670048" y="2432304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3283F"/>
                </a:solidFill>
                <a:latin typeface="Aptos"/>
              </a:rPr>
              <a:t>Boberg, T.C. &amp; Lantz, R.B. (1966). Calculation of the Production Rate of a Thermally Stimulated Well. JPT 18(12), 1613-1623.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897112" y="2432304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27387"/>
                </a:solidFill>
                <a:latin typeface="Aptos"/>
              </a:rPr>
              <a:t>Conceptual CSS reference; current prototype uses a simplified thermal model.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792" y="3108960"/>
            <a:ext cx="10954512" cy="640080"/>
          </a:xfrm>
          <a:prstGeom prst="roundRect">
            <a:avLst/>
          </a:prstGeom>
          <a:solidFill>
            <a:srgbClr val="E9F5F3"/>
          </a:solidFill>
          <a:ln w="10160">
            <a:solidFill>
              <a:srgbClr val="E9F5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768096" y="3200400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17D78"/>
                </a:solidFill>
                <a:latin typeface="Aptos"/>
              </a:rPr>
              <a:t>SRP DYNAMICS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670048" y="3182112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3283F"/>
                </a:solidFill>
                <a:latin typeface="Aptos"/>
              </a:rPr>
              <a:t>Gibbs, S.G. (1963). Predicting the Behavior of Sucker-Rod Pumping Systems. JPT 15(7), 769-778.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897112" y="3182112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27387"/>
                </a:solidFill>
                <a:latin typeface="Aptos"/>
              </a:rPr>
              <a:t>Reference for rod-system modeling; current model is a simplified demonstration.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1792" y="3858768"/>
            <a:ext cx="10954512" cy="640080"/>
          </a:xfrm>
          <a:prstGeom prst="roundRect">
            <a:avLst/>
          </a:prstGeom>
          <a:solidFill>
            <a:srgbClr val="EAF3FA"/>
          </a:solidFill>
          <a:ln w="10160">
            <a:solidFill>
              <a:srgbClr val="EA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68096" y="3950207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676B8"/>
                </a:solidFill>
                <a:latin typeface="Aptos"/>
              </a:rPr>
              <a:t>PHYSICS-INFORMED ML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670048" y="3931920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3283F"/>
                </a:solidFill>
                <a:latin typeface="Aptos"/>
              </a:rPr>
              <a:t>Raissi, M., Perdikaris, P. &amp; Karniadakis, G.E. (2019). Physics-informed neural networks. J. Comput. Phys. 378, 686-707. DOI: 10.1016/j.jcp.2018.10.045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897112" y="3931920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27387"/>
                </a:solidFill>
                <a:latin typeface="Aptos"/>
              </a:rPr>
              <a:t>Future research direction only; no trained PINN is in the running prototype.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1792" y="4608576"/>
            <a:ext cx="10954512" cy="640080"/>
          </a:xfrm>
          <a:prstGeom prst="roundRect">
            <a:avLst/>
          </a:prstGeom>
          <a:solidFill>
            <a:srgbClr val="FAECEA"/>
          </a:solidFill>
          <a:ln w="10160">
            <a:solidFill>
              <a:srgbClr val="FA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768096" y="4700016"/>
            <a:ext cx="18653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BB4D43"/>
                </a:solidFill>
                <a:latin typeface="Aptos"/>
              </a:rPr>
              <a:t>IMPLEMENTATION DOCS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670048" y="4681728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13283F"/>
                </a:solidFill>
                <a:latin typeface="Aptos"/>
              </a:rPr>
              <a:t>React: react.dev | FastAPI: fastapi.tiangolo.com | Vercel: vercel.com/docs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897112" y="4681728"/>
            <a:ext cx="24871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27387"/>
                </a:solidFill>
                <a:latin typeface="Aptos"/>
              </a:rPr>
              <a:t>Frontend / API stack in the deployed demonstration.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40664" y="5550408"/>
            <a:ext cx="10716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>
                <a:solidFill>
                  <a:srgbClr val="24364A"/>
                </a:solidFill>
                <a:latin typeface="Aptos"/>
                <a:hlinkClick r:id="rId4"/>
              </a:rPr>
              <a:t>REPOSITORY / LIVE DEMO | github.com/qwertypoiuy9/sih-120-final | sih-120-final.vercel.app | Verify SIH portal PS ID and registered team details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