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gemini.google.com/share/494e18a1277d" TargetMode="External"/><Relationship Id="rId5" Type="http://schemas.openxmlformats.org/officeDocument/2006/relationships/hyperlink" Target="https://search.crossref.org/?q=Calculation%20of%20the%20Production%20Rate%20of%20a%20Thermally%20Stimulated%20Well" TargetMode="External"/><Relationship Id="rId6" Type="http://schemas.openxmlformats.org/officeDocument/2006/relationships/hyperlink" Target="https://scholar.google.com/scholar?q=Computing+Downhole+Pump+Cards+from+Surface+Dynamometer+Cards" TargetMode="External"/><Relationship Id="rId7" Type="http://schemas.openxmlformats.org/officeDocument/2006/relationships/hyperlink" Target="https://github.com/im-yousuf/si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lIns="54864" rIns="45720" anchor="t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800" b="1" i="0" u="none">
                <a:solidFill>
                  <a:srgbClr val="1F364E"/>
                </a:solidFill>
                <a:latin typeface="Arial"/>
              </a:rPr>
              <a:t>PROJECT: </a:t>
            </a:r>
            <a:r>
              <a:rPr sz="1800" b="1" i="0" u="none">
                <a:solidFill>
                  <a:srgbClr val="8B5A2B"/>
                </a:solidFill>
                <a:latin typeface="Arial"/>
              </a:rPr>
              <a:t>Baghewala Digital Twin | CSS + SRP operations</a:t>
            </a:r>
            <a:endParaRPr lang="en-US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50" b="1" i="0" u="none">
                <a:solidFill>
                  <a:srgbClr val="1F364E"/>
                </a:solidFill>
                <a:latin typeface="Arial"/>
              </a:rPr>
              <a:t>Problem Statement ID: </a:t>
            </a:r>
            <a:r>
              <a:rPr sz="1650" b="0" i="0" u="none">
                <a:solidFill>
                  <a:srgbClr val="2A3138"/>
                </a:solidFill>
                <a:latin typeface="Arial"/>
              </a:rPr>
              <a:t>[ENTER EXACT PORTAL PS ID]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50" b="1" i="0" u="none">
                <a:solidFill>
                  <a:srgbClr val="1F364E"/>
                </a:solidFill>
                <a:latin typeface="Arial"/>
              </a:rPr>
              <a:t>Problem Statement Title: </a:t>
            </a:r>
            <a:r>
              <a:rPr sz="1650" b="0" i="0" u="none">
                <a:solidFill>
                  <a:srgbClr val="2A3138"/>
                </a:solidFill>
                <a:latin typeface="Arial"/>
              </a:rPr>
              <a:t>[ENTER EXACT PORTAL TITLE]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50" b="1" i="0" u="none">
                <a:solidFill>
                  <a:srgbClr val="1F364E"/>
                </a:solidFill>
                <a:latin typeface="Arial"/>
              </a:rPr>
              <a:t>Theme: </a:t>
            </a:r>
            <a:r>
              <a:rPr sz="1650" b="0" i="0" u="none">
                <a:solidFill>
                  <a:srgbClr val="2A3138"/>
                </a:solidFill>
                <a:latin typeface="Arial"/>
              </a:rPr>
              <a:t>[ENTER PORTAL THEME]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50" b="1" i="0" u="none">
                <a:solidFill>
                  <a:srgbClr val="1F364E"/>
                </a:solidFill>
                <a:latin typeface="Arial"/>
              </a:rPr>
              <a:t>PS Category: </a:t>
            </a:r>
            <a:r>
              <a:rPr sz="1650" b="0" i="0" u="none">
                <a:solidFill>
                  <a:srgbClr val="2A3138"/>
                </a:solidFill>
                <a:latin typeface="Arial"/>
              </a:rPr>
              <a:t>Software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50" b="1" i="0" u="none">
                <a:solidFill>
                  <a:srgbClr val="1F364E"/>
                </a:solidFill>
                <a:latin typeface="Arial"/>
              </a:rPr>
              <a:t>Team ID: </a:t>
            </a:r>
            <a:r>
              <a:rPr sz="1650" b="0" i="0" u="none">
                <a:solidFill>
                  <a:srgbClr val="2A3138"/>
                </a:solidFill>
                <a:latin typeface="Arial"/>
              </a:rPr>
              <a:t>[ENTER PORTAL TEAM ID]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50" b="1" i="0" u="none">
                <a:solidFill>
                  <a:srgbClr val="1F364E"/>
                </a:solidFill>
                <a:latin typeface="Arial"/>
              </a:rPr>
              <a:t>Registered Team Name: </a:t>
            </a:r>
            <a:r>
              <a:rPr sz="1650" b="0" i="0" u="none">
                <a:solidFill>
                  <a:srgbClr val="2A3138"/>
                </a:solidFill>
                <a:latin typeface="Arial"/>
              </a:rPr>
              <a:t>[ENTER EXACT PORTAL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18288" tIns="18288" rIns="18288" bIns="18288" anchor="t"/>
          <a:lstStyle/>
          <a:p>
            <a:pPr eaLnBrk="1" hangingPunct="1"/>
            <a:r>
              <a:rPr sz="3100" b="1" i="0" u="none">
                <a:solidFill>
                  <a:srgbClr val="1F364E"/>
                </a:solidFill>
                <a:latin typeface="Times New Roman"/>
              </a:rPr>
              <a:t>BAGHEWALA DIGITAL TWIN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 wrap="square" lIns="18288" tIns="9144" rIns="18288" bIns="9144"/>
          <a:lstStyle/>
          <a:p>
            <a:pPr algn="ctr"/>
            <a:r>
              <a:rPr sz="900" b="1" i="0" u="none">
                <a:solidFill>
                  <a:srgbClr val="1F364E"/>
                </a:solidFill>
                <a:latin typeface="Arial"/>
              </a:rPr>
              <a:t>TEAM TBD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66928" y="1115568"/>
            <a:ext cx="109728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520" b="0" i="0" u="none">
                <a:solidFill>
                  <a:srgbClr val="56626C"/>
                </a:solidFill>
                <a:latin typeface="Arial"/>
              </a:rPr>
              <a:t>A well-to-surface decision-support twin for heavy-oil CSS and sucker-rod pump operations.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30352" y="1536192"/>
            <a:ext cx="5440680" cy="1874519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220" b="1" i="0" u="none">
                <a:solidFill>
                  <a:srgbClr val="8B5A2B"/>
                </a:solidFill>
                <a:latin typeface="Arial"/>
              </a:rPr>
              <a:t>PROPOSED SOLUTION (DESCRIBE YOUR IDEA / SOLUTION / PROTOTYPE)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 i="0" u="none">
                <a:solidFill>
                  <a:srgbClr val="2A3138"/>
                </a:solidFill>
                <a:latin typeface="Arial"/>
              </a:rPr>
              <a:t>A digital twin links CSS reservoir cooling to heavy-oil flow and SRP behaviour in one operator-facing view.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90488" y="1536192"/>
            <a:ext cx="5440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420" b="1" i="0" u="none">
                <a:solidFill>
                  <a:srgbClr val="8B5A2B"/>
                </a:solidFill>
                <a:latin typeface="Arial"/>
              </a:rPr>
              <a:t>DETAILED EXPLANATION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i="0" u="none">
                <a:solidFill>
                  <a:srgbClr val="2A3138"/>
                </a:solidFill>
                <a:latin typeface="Arial"/>
              </a:rPr>
              <a:t>Thermal state → temperature-dependent viscosity → wellbore resistance → rod/load/vibration indicators → weighted rod-float risk, evidence chain and recommended SPM.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i="0" u="none">
                <a:solidFill>
                  <a:srgbClr val="2A3138"/>
                </a:solidFill>
                <a:latin typeface="Arial"/>
              </a:rPr>
              <a:t>Scenario and what-if screens let staff compare options before acting.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30352" y="3584448"/>
            <a:ext cx="5440680" cy="1947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420" b="1" i="0" u="none">
                <a:solidFill>
                  <a:srgbClr val="8B5A2B"/>
                </a:solidFill>
                <a:latin typeface="Arial"/>
              </a:rPr>
              <a:t>HOW IT ADDRESSES THE PROBLEM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80" b="0" i="0" u="none">
                <a:solidFill>
                  <a:srgbClr val="2A3138"/>
                </a:solidFill>
                <a:latin typeface="Arial"/>
              </a:rPr>
              <a:t>Connects thermal decline and lift mechanics that are often reviewed separately.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80" b="0" i="0" u="none">
                <a:solidFill>
                  <a:srgbClr val="2A3138"/>
                </a:solidFill>
                <a:latin typeface="Arial"/>
              </a:rPr>
              <a:t>Gives the Well Incharge a well-level risk view and the Supervisor a fleet-level context; recommendations remain human-reviewed.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190488" y="3584448"/>
            <a:ext cx="5440680" cy="194767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420" b="1" i="0" u="none">
                <a:solidFill>
                  <a:srgbClr val="8B5A2B"/>
                </a:solidFill>
                <a:latin typeface="Arial"/>
              </a:rPr>
              <a:t>INNOVATION AND UNIQUENESS OF THE SOLUTION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i="0" u="none">
                <a:solidFill>
                  <a:srgbClr val="2A3138"/>
                </a:solidFill>
                <a:latin typeface="Arial"/>
              </a:rPr>
              <a:t>Explainable physics chain + interactive 3D well view + scenario simulation + role-based workflows.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 i="0" u="none">
                <a:solidFill>
                  <a:srgbClr val="2A3138"/>
                </a:solidFill>
                <a:latin typeface="Arial"/>
              </a:rPr>
              <a:t>Bundled UI language packs: English, Hindi, Assamese, Telugu and Rajasthani. Bhashini API integration is future work, not live in this build.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85216" y="5687568"/>
            <a:ext cx="1097280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130" b="1" i="0" u="none">
                <a:solidFill>
                  <a:srgbClr val="8B5A2B"/>
                </a:solidFill>
                <a:latin typeface="Arial"/>
              </a:rPr>
              <a:t>Prototype boundary: simulated telemetry; no live OIL/SCADA connection or physical VFD commands.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 wrap="square" lIns="18288" tIns="9144" rIns="18288" bIns="9144"/>
          <a:lstStyle/>
          <a:p>
            <a:pPr algn="ctr"/>
            <a:r>
              <a:rPr sz="900" b="1" i="0" u="none">
                <a:solidFill>
                  <a:srgbClr val="1F364E"/>
                </a:solidFill>
                <a:latin typeface="Arial"/>
              </a:rPr>
              <a:t>TEAM TBD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30352" y="1143000"/>
            <a:ext cx="11119104" cy="685800"/>
          </a:xfrm>
          <a:prstGeom prst="roundRect">
            <a:avLst/>
          </a:prstGeom>
          <a:solidFill>
            <a:srgbClr val="F5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rIns="137160" bIns="54864"/>
          <a:lstStyle/>
          <a:p>
            <a:pPr algn="ctr">
              <a:spcAft>
                <a:spcPts val="200"/>
              </a:spcAft>
            </a:pPr>
            <a:r>
              <a:rPr sz="1220" b="1" i="0" u="none">
                <a:solidFill>
                  <a:srgbClr val="1F364E"/>
                </a:solidFill>
                <a:latin typeface="Arial"/>
              </a:rPr>
              <a:t>TECHNOLOGIES TO BE USED (LANGUAGES / FRAMEWORKS)</a:t>
            </a:r>
          </a:p>
          <a:p>
            <a:pPr>
              <a:lnSpc>
                <a:spcPct val="100000"/>
              </a:lnSpc>
            </a:pPr>
            <a:r>
              <a:rPr sz="1150" b="0" i="0" u="none">
                <a:solidFill>
                  <a:srgbClr val="2A3138"/>
                </a:solidFill>
                <a:latin typeface="Arial"/>
              </a:rPr>
              <a:t>React + TypeScript + Three.js | FastAPI + Python/NumPy | REST + WebSocket | Recharts + i18next | Docker Compose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30352" y="1920240"/>
            <a:ext cx="1111910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rIns="137160" bIns="54864"/>
          <a:lstStyle/>
          <a:p>
            <a:pPr algn="ctr">
              <a:spcAft>
                <a:spcPts val="200"/>
              </a:spcAft>
            </a:pPr>
            <a:r>
              <a:rPr sz="1220" b="1" i="0" u="none">
                <a:solidFill>
                  <a:srgbClr val="1F7575"/>
                </a:solidFill>
                <a:latin typeface="Arial"/>
              </a:rPr>
              <a:t>METHODOLOGY AND PROCESS FOR IMPLEMENTATION</a:t>
            </a:r>
          </a:p>
          <a:p>
            <a:pPr>
              <a:lnSpc>
                <a:spcPct val="100000"/>
              </a:lnSpc>
            </a:pPr>
            <a:r>
              <a:rPr sz="1150" b="0" i="0" u="none">
                <a:solidFill>
                  <a:srgbClr val="2A3138"/>
                </a:solidFill>
                <a:latin typeface="Arial"/>
              </a:rPr>
              <a:t>Demo or telemetry input → CSS thermal state → temperature-sensitive viscosity → wellbore flow → Gibbs-type damped rod dynamics → weighted fault-risk score → operator recommendation + what-if.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30352" y="3081528"/>
            <a:ext cx="1975104" cy="1353312"/>
          </a:xfrm>
          <a:prstGeom prst="roundRect">
            <a:avLst/>
          </a:prstGeom>
          <a:solidFill>
            <a:srgbClr val="F5F7F9"/>
          </a:solidFill>
          <a:ln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146304" rIns="118872" bIns="91440"/>
          <a:lstStyle/>
          <a:p>
            <a:pPr algn="ctr">
              <a:spcAft>
                <a:spcPts val="700"/>
              </a:spcAft>
            </a:pPr>
            <a:r>
              <a:rPr sz="1230" b="1" i="0" u="none">
                <a:solidFill>
                  <a:srgbClr val="1F364E"/>
                </a:solidFill>
                <a:latin typeface="Arial"/>
              </a:rPr>
              <a:t>01  INPUT</a:t>
            </a:r>
          </a:p>
          <a:p>
            <a:pPr algn="ctr"/>
            <a:r>
              <a:rPr sz="1130" b="0" i="0" u="none">
                <a:solidFill>
                  <a:srgbClr val="2A3138"/>
                </a:solidFill>
                <a:latin typeface="Arial"/>
              </a:rPr>
              <a:t>Simulated telemetry
scenario selector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2560320" y="3611880"/>
            <a:ext cx="265176" cy="256032"/>
          </a:xfrm>
          <a:prstGeom prst="rightArrow">
            <a:avLst/>
          </a:prstGeom>
          <a:solidFill>
            <a:srgbClr val="E8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2862072" y="3081528"/>
            <a:ext cx="1975104" cy="1353312"/>
          </a:xfrm>
          <a:prstGeom prst="roundRect">
            <a:avLst/>
          </a:prstGeom>
          <a:solidFill>
            <a:srgbClr val="EDF4F7"/>
          </a:solidFill>
          <a:ln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146304" rIns="118872" bIns="91440"/>
          <a:lstStyle/>
          <a:p>
            <a:pPr algn="ctr">
              <a:spcAft>
                <a:spcPts val="700"/>
              </a:spcAft>
            </a:pPr>
            <a:r>
              <a:rPr sz="1230" b="1" i="0" u="none">
                <a:solidFill>
                  <a:srgbClr val="1F7575"/>
                </a:solidFill>
                <a:latin typeface="Arial"/>
              </a:rPr>
              <a:t>02  RESERVOIR</a:t>
            </a:r>
          </a:p>
          <a:p>
            <a:pPr algn="ctr"/>
            <a:r>
              <a:rPr sz="1130" b="0" i="0" u="none">
                <a:solidFill>
                  <a:srgbClr val="2A3138"/>
                </a:solidFill>
                <a:latin typeface="Arial"/>
              </a:rPr>
              <a:t>CSS temperature
state / decline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4892040" y="3611880"/>
            <a:ext cx="265176" cy="256032"/>
          </a:xfrm>
          <a:prstGeom prst="rightArrow">
            <a:avLst/>
          </a:prstGeom>
          <a:solidFill>
            <a:srgbClr val="E8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5193792" y="3081528"/>
            <a:ext cx="1975104" cy="1353312"/>
          </a:xfrm>
          <a:prstGeom prst="roundRect">
            <a:avLst/>
          </a:prstGeom>
          <a:solidFill>
            <a:srgbClr val="F0F6F3"/>
          </a:solidFill>
          <a:ln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146304" rIns="118872" bIns="91440"/>
          <a:lstStyle/>
          <a:p>
            <a:pPr algn="ctr">
              <a:spcAft>
                <a:spcPts val="700"/>
              </a:spcAft>
            </a:pPr>
            <a:r>
              <a:rPr sz="1230" b="1" i="0" u="none">
                <a:solidFill>
                  <a:srgbClr val="1F7575"/>
                </a:solidFill>
                <a:latin typeface="Arial"/>
              </a:rPr>
              <a:t>03  FLUID + WELL</a:t>
            </a:r>
          </a:p>
          <a:p>
            <a:pPr algn="ctr"/>
            <a:r>
              <a:rPr sz="1130" b="0" i="0" u="none">
                <a:solidFill>
                  <a:srgbClr val="2A3138"/>
                </a:solidFill>
                <a:latin typeface="Arial"/>
              </a:rPr>
              <a:t>Viscosity, pressure
&amp; flow resistance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7223760" y="3611880"/>
            <a:ext cx="265176" cy="256032"/>
          </a:xfrm>
          <a:prstGeom prst="rightArrow">
            <a:avLst/>
          </a:prstGeom>
          <a:solidFill>
            <a:srgbClr val="E8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7525512" y="3081528"/>
            <a:ext cx="1975104" cy="1353312"/>
          </a:xfrm>
          <a:prstGeom prst="roundRect">
            <a:avLst/>
          </a:prstGeom>
          <a:solidFill>
            <a:srgbClr val="FBF4E7"/>
          </a:solidFill>
          <a:ln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146304" rIns="118872" bIns="91440"/>
          <a:lstStyle/>
          <a:p>
            <a:pPr algn="ctr">
              <a:spcAft>
                <a:spcPts val="700"/>
              </a:spcAft>
            </a:pPr>
            <a:r>
              <a:rPr sz="1230" b="1" i="0" u="none">
                <a:solidFill>
                  <a:srgbClr val="8B5A2B"/>
                </a:solidFill>
                <a:latin typeface="Arial"/>
              </a:rPr>
              <a:t>04  SRP / RISK</a:t>
            </a:r>
          </a:p>
          <a:p>
            <a:pPr algn="ctr"/>
            <a:r>
              <a:rPr sz="1130" b="0" i="0" u="none">
                <a:solidFill>
                  <a:srgbClr val="2A3138"/>
                </a:solidFill>
                <a:latin typeface="Arial"/>
              </a:rPr>
              <a:t>Rod dynamics, load,
vibration risk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9555480" y="3611880"/>
            <a:ext cx="265176" cy="256032"/>
          </a:xfrm>
          <a:prstGeom prst="rightArrow">
            <a:avLst/>
          </a:prstGeom>
          <a:solidFill>
            <a:srgbClr val="E8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9857232" y="3081528"/>
            <a:ext cx="1975104" cy="1353312"/>
          </a:xfrm>
          <a:prstGeom prst="roundRect">
            <a:avLst/>
          </a:prstGeom>
          <a:solidFill>
            <a:srgbClr val="F4F0F8"/>
          </a:solidFill>
          <a:ln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146304" rIns="118872" bIns="91440"/>
          <a:lstStyle/>
          <a:p>
            <a:pPr algn="ctr">
              <a:spcAft>
                <a:spcPts val="700"/>
              </a:spcAft>
            </a:pPr>
            <a:r>
              <a:rPr sz="1230" b="1" i="0" u="none">
                <a:solidFill>
                  <a:srgbClr val="1F364E"/>
                </a:solidFill>
                <a:latin typeface="Arial"/>
              </a:rPr>
              <a:t>05  OPERATOR</a:t>
            </a:r>
          </a:p>
          <a:p>
            <a:pPr algn="ctr"/>
            <a:r>
              <a:rPr sz="1130" b="0" i="0" u="none">
                <a:solidFill>
                  <a:srgbClr val="2A3138"/>
                </a:solidFill>
                <a:latin typeface="Arial"/>
              </a:rPr>
              <a:t>Evidence, alert,
what-if / SPM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30352" y="4681728"/>
            <a:ext cx="5440680" cy="932688"/>
          </a:xfrm>
          <a:prstGeom prst="roundRect">
            <a:avLst/>
          </a:prstGeom>
          <a:solidFill>
            <a:srgbClr val="F5F7F9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rIns="137160" bIns="54864"/>
          <a:lstStyle/>
          <a:p>
            <a:pPr algn="ctr">
              <a:spcAft>
                <a:spcPts val="200"/>
              </a:spcAft>
            </a:pPr>
            <a:r>
              <a:rPr sz="1220" b="1" i="0" u="none">
                <a:solidFill>
                  <a:srgbClr val="1F7575"/>
                </a:solidFill>
                <a:latin typeface="Arial"/>
              </a:rPr>
              <a:t>PROTOTYPE TODAY</a:t>
            </a:r>
          </a:p>
          <a:p>
            <a:pPr>
              <a:lnSpc>
                <a:spcPct val="100000"/>
              </a:lnSpc>
            </a:pPr>
            <a:r>
              <a:rPr sz="1150" b="0" i="0" u="none">
                <a:solidFill>
                  <a:srgbClr val="2A3138"/>
                </a:solidFill>
                <a:latin typeface="Arial"/>
              </a:rPr>
              <a:t>Physics demo models, scenario controls, REST/WebSocket feeds, risk insights and what-if screens.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90488" y="4681728"/>
            <a:ext cx="54406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rIns="137160" bIns="54864"/>
          <a:lstStyle/>
          <a:p>
            <a:pPr algn="ctr">
              <a:spcAft>
                <a:spcPts val="200"/>
              </a:spcAft>
            </a:pPr>
            <a:r>
              <a:rPr sz="1220" b="1" i="0" u="none">
                <a:solidFill>
                  <a:srgbClr val="8B5A2B"/>
                </a:solidFill>
                <a:latin typeface="Arial"/>
              </a:rPr>
              <a:t>NEXT FOR FIELD READINESS</a:t>
            </a:r>
          </a:p>
          <a:p>
            <a:pPr>
              <a:lnSpc>
                <a:spcPct val="100000"/>
              </a:lnSpc>
            </a:pPr>
            <a:r>
              <a:rPr sz="1150" b="0" i="0" u="none">
                <a:solidFill>
                  <a:srgbClr val="2A3138"/>
                </a:solidFill>
                <a:latin typeface="Arial"/>
              </a:rPr>
              <a:t>Historian data → calibration → validation → shadow-mode pilot → operator-approved integration.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85216" y="5760720"/>
            <a:ext cx="1097280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040" b="0" i="0" u="none">
                <a:solidFill>
                  <a:srgbClr val="56626C"/>
                </a:solidFill>
                <a:latin typeface="Arial"/>
              </a:rPr>
              <a:t>Numerical/demo physics and weighted risk logic are implemented; trained PINN, Bhashini NMT and field control are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 wrap="square" lIns="18288" tIns="9144" rIns="18288" bIns="9144"/>
          <a:lstStyle/>
          <a:p>
            <a:pPr algn="ctr"/>
            <a:r>
              <a:rPr sz="900" b="1" i="0" u="none">
                <a:solidFill>
                  <a:srgbClr val="1F364E"/>
                </a:solidFill>
                <a:latin typeface="Arial"/>
              </a:rPr>
              <a:t>TEAM TBD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124712"/>
            <a:ext cx="1097280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510" b="1" i="0" u="none">
                <a:solidFill>
                  <a:srgbClr val="56626C"/>
                </a:solidFill>
                <a:latin typeface="Arial"/>
              </a:rPr>
              <a:t>Analysis of the feasibility of the idea • Potential challenges and risks • Strategies for overcoming these challenges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30352" y="1847088"/>
            <a:ext cx="3611880" cy="379476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510" b="1" i="0" u="none">
                <a:solidFill>
                  <a:srgbClr val="8B5A2B"/>
                </a:solidFill>
                <a:latin typeface="Arial"/>
              </a:rPr>
              <a:t>FEASIBILITY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80" b="0" i="0" u="none">
                <a:solidFill>
                  <a:srgbClr val="2A3138"/>
                </a:solidFill>
                <a:latin typeface="Arial"/>
              </a:rPr>
              <a:t>Built with deployable web technologies and modular API/model layers.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80" b="0" i="0" u="none">
                <a:solidFill>
                  <a:srgbClr val="2A3138"/>
                </a:solidFill>
                <a:latin typeface="Arial"/>
              </a:rPr>
              <a:t>Demo exercises thermal, viscosity and rod-dynamics models with simulated scenarios.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80" b="0" i="0" u="none">
                <a:solidFill>
                  <a:srgbClr val="2A3138"/>
                </a:solidFill>
                <a:latin typeface="Arial"/>
              </a:rPr>
              <a:t>Field rollout depends on OIL telemetry access, well configuration and calibration data.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88536" y="1847088"/>
            <a:ext cx="36118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510" b="1" i="0" u="none">
                <a:solidFill>
                  <a:srgbClr val="8B5A2B"/>
                </a:solidFill>
                <a:latin typeface="Arial"/>
              </a:rPr>
              <a:t>CHALLENGES / RISKS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80" b="0" i="0" u="none">
                <a:solidFill>
                  <a:srgbClr val="2A3138"/>
                </a:solidFill>
                <a:latin typeface="Arial"/>
              </a:rPr>
              <a:t>Simulation-to-field gap; incomplete or noisy sensors.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80" b="0" i="0" u="none">
                <a:solidFill>
                  <a:srgbClr val="2A3138"/>
                </a:solidFill>
                <a:latin typeface="Arial"/>
              </a:rPr>
              <a:t>False alarms or missed events if thresholds are uncalibrated.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80" b="0" i="0" u="none">
                <a:solidFill>
                  <a:srgbClr val="2A3138"/>
                </a:solidFill>
                <a:latin typeface="Arial"/>
              </a:rPr>
              <a:t>OT security, network outages and integration constraints.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80" b="0" i="0" u="none">
                <a:solidFill>
                  <a:srgbClr val="2A3138"/>
                </a:solidFill>
                <a:latin typeface="Arial"/>
              </a:rPr>
              <a:t>Translated technical alerts may be misunderstood.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46720" y="1847088"/>
            <a:ext cx="3611880" cy="379476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430" b="1" i="0" u="none">
                <a:solidFill>
                  <a:srgbClr val="8B5A2B"/>
                </a:solidFill>
                <a:latin typeface="Arial"/>
              </a:rPr>
              <a:t>MITIGATION / PILOT GATES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40" b="0" i="0" u="none">
                <a:solidFill>
                  <a:srgbClr val="2A3138"/>
                </a:solidFill>
                <a:latin typeface="Arial"/>
              </a:rPr>
              <a:t>Replay historian data; calibrate and validate against labeled events.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40" b="0" i="0" u="none">
                <a:solidFill>
                  <a:srgbClr val="2A3138"/>
                </a:solidFill>
                <a:latin typeface="Arial"/>
              </a:rPr>
              <a:t>Start in read-only shadow mode; measure precision, recall and lead time.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40" b="0" i="0" u="none">
                <a:solidFill>
                  <a:srgbClr val="2A3138"/>
                </a:solidFill>
                <a:latin typeface="Arial"/>
              </a:rPr>
              <a:t>Keep human approval; add audit, role controls and stale-data safeguards.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40" b="0" i="0" u="none">
                <a:solidFill>
                  <a:srgbClr val="2A3138"/>
                </a:solidFill>
                <a:latin typeface="Arial"/>
              </a:rPr>
              <a:t>Review language with operators; check Bhashini access/security before integration.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85216" y="5760720"/>
            <a:ext cx="109728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080" b="1" i="0" u="none">
                <a:solidFill>
                  <a:srgbClr val="8B5A2B"/>
                </a:solidFill>
                <a:latin typeface="Arial"/>
              </a:rPr>
              <a:t>No operational use until field validation, cybersecurity review and operator acceptance are complete.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 wrap="square" lIns="18288" tIns="9144" rIns="18288" bIns="9144"/>
          <a:lstStyle/>
          <a:p>
            <a:pPr algn="ctr"/>
            <a:r>
              <a:rPr sz="900" b="1" i="0" u="none">
                <a:solidFill>
                  <a:srgbClr val="1F364E"/>
                </a:solidFill>
                <a:latin typeface="Arial"/>
              </a:rPr>
              <a:t>TEAM TBD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124712"/>
            <a:ext cx="1097280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370" b="1" i="0" u="none">
                <a:solidFill>
                  <a:srgbClr val="56626C"/>
                </a:solidFill>
                <a:latin typeface="Arial"/>
              </a:rPr>
              <a:t>Potential impact on the target audience (field operators, Well Incharges, production engineers, Supervisors) • Social, economic and environmental benefits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30352" y="1847088"/>
            <a:ext cx="3611880" cy="2889504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470" b="1" i="0" u="none">
                <a:solidFill>
                  <a:srgbClr val="8B5A2B"/>
                </a:solidFill>
                <a:latin typeface="Arial"/>
              </a:rPr>
              <a:t>OPERATIONAL BENEFIT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60" b="0" i="0" u="none">
                <a:solidFill>
                  <a:srgbClr val="2A3138"/>
                </a:solidFill>
                <a:latin typeface="Arial"/>
              </a:rPr>
              <a:t>Shared well state and risk signals across field and supervisory roles.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60" b="0" i="0" u="none">
                <a:solidFill>
                  <a:srgbClr val="2A3138"/>
                </a:solidFill>
                <a:latin typeface="Arial"/>
              </a:rPr>
              <a:t>Traceable evidence helps explain why a condition is flagged.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60" b="0" i="0" u="none">
                <a:solidFill>
                  <a:srgbClr val="2A3138"/>
                </a:solidFill>
                <a:latin typeface="Arial"/>
              </a:rPr>
              <a:t>What-if comparison supports informed, human-reviewed decisions.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88536" y="1847088"/>
            <a:ext cx="3611880" cy="2889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470" b="1" i="0" u="none">
                <a:solidFill>
                  <a:srgbClr val="8B5A2B"/>
                </a:solidFill>
                <a:latin typeface="Arial"/>
              </a:rPr>
              <a:t>ECONOMIC POTENTIAL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60" b="0" i="0" u="none">
                <a:solidFill>
                  <a:srgbClr val="2A3138"/>
                </a:solidFill>
                <a:latin typeface="Arial"/>
              </a:rPr>
              <a:t>Earlier intervention may prevent avoidable failures and downtime.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60" b="0" i="0" u="none">
                <a:solidFill>
                  <a:srgbClr val="2A3138"/>
                </a:solidFill>
                <a:latin typeface="Arial"/>
              </a:rPr>
              <a:t>Better-informed lift / CSS decisions may protect production and reduce energy waste.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60" b="0" i="0" u="none">
                <a:solidFill>
                  <a:srgbClr val="2A3138"/>
                </a:solidFill>
                <a:latin typeface="Arial"/>
              </a:rPr>
              <a:t>Benefits must be measured in a field pilot; no savings claimed yet.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46720" y="1847088"/>
            <a:ext cx="3611880" cy="2889504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109728" rIns="146304" bIns="91440"/>
          <a:lstStyle/>
          <a:p>
            <a:pPr algn="ctr">
              <a:spcAft>
                <a:spcPts val="500"/>
              </a:spcAft>
            </a:pPr>
            <a:r>
              <a:rPr sz="1400" b="1" i="0" u="none">
                <a:solidFill>
                  <a:srgbClr val="8B5A2B"/>
                </a:solidFill>
                <a:latin typeface="Arial"/>
              </a:rPr>
              <a:t>SOCIAL + ENVIRONMENTAL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20" b="0" i="0" u="none">
                <a:solidFill>
                  <a:srgbClr val="2A3138"/>
                </a:solidFill>
                <a:latin typeface="Arial"/>
              </a:rPr>
              <a:t>Localized interface options can improve accessibility for frontline teams.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20" b="0" i="0" u="none">
                <a:solidFill>
                  <a:srgbClr val="2A3138"/>
                </a:solidFill>
                <a:latin typeface="Arial"/>
              </a:rPr>
              <a:t>If validated, efficient steam and pumping use could lower energy intensity and emissions.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20" b="0" i="0" u="none">
                <a:solidFill>
                  <a:srgbClr val="2A3138"/>
                </a:solidFill>
                <a:latin typeface="Arial"/>
              </a:rPr>
              <a:t>No live Bhashini alert translation or measured emissions reduction in this prototype.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30352" y="4956048"/>
            <a:ext cx="11128248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rIns="137160" bIns="54864"/>
          <a:lstStyle/>
          <a:p>
            <a:pPr algn="ctr">
              <a:spcAft>
                <a:spcPts val="200"/>
              </a:spcAft>
            </a:pPr>
            <a:r>
              <a:rPr sz="1220" b="1" i="0" u="none">
                <a:solidFill>
                  <a:srgbClr val="1F7575"/>
                </a:solidFill>
                <a:latin typeface="Arial"/>
              </a:rPr>
              <a:t>PILOT SUCCESS METRICS</a:t>
            </a:r>
          </a:p>
          <a:p>
            <a:pPr>
              <a:lnSpc>
                <a:spcPct val="100000"/>
              </a:lnSpc>
            </a:pPr>
            <a:r>
              <a:rPr sz="1150" b="0" i="0" u="none">
                <a:solidFill>
                  <a:srgbClr val="2A3138"/>
                </a:solidFill>
                <a:latin typeface="Arial"/>
              </a:rPr>
              <a:t>Warning lead time + precision/recall | failures/workovers | uptime + oil rate | kWh per barrel | steam-oil ratio | operator acknowledgement / comprehension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85216" y="5907024"/>
            <a:ext cx="109728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010" b="0" i="1" u="none">
                <a:solidFill>
                  <a:srgbClr val="56626C"/>
                </a:solidFill>
                <a:latin typeface="Arial"/>
              </a:rPr>
              <a:t>Impacts are hypotheses to test against baseline data, not measured prototype outcomes.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 wrap="square" lIns="18288" tIns="9144" rIns="18288" bIns="9144"/>
          <a:lstStyle/>
          <a:p>
            <a:pPr algn="ctr"/>
            <a:r>
              <a:rPr sz="900" b="1" i="0" u="none">
                <a:solidFill>
                  <a:srgbClr val="1F364E"/>
                </a:solidFill>
                <a:latin typeface="Arial"/>
              </a:rPr>
              <a:t>TEAM TBD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30352" y="1243584"/>
            <a:ext cx="544068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tIns="118872" rIns="155448" bIns="100584"/>
          <a:lstStyle/>
          <a:p>
            <a:pPr algn="ctr">
              <a:spcAft>
                <a:spcPts val="400"/>
              </a:spcAft>
            </a:pPr>
            <a:r>
              <a:rPr sz="1300" b="1" i="0" u="none">
                <a:solidFill>
                  <a:srgbClr val="1F364E"/>
                </a:solidFill>
                <a:latin typeface="Arial"/>
              </a:rPr>
              <a:t>TEAM-SUPPLIED BACKGROUND RESEARCH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 u="none">
                <a:solidFill>
                  <a:srgbClr val="2A3138"/>
                </a:solidFill>
                <a:latin typeface="Arial"/>
              </a:rPr>
              <a:t>“Digital Twin Oil Well Optimization … Baghewala Field,” Gemini Deep Research PDF (18 pp., supplied 28 Sep 2026). Secondary AI-generated synthesis; field figures and claims need OIL-source verification.</a:t>
            </a:r>
          </a:p>
          <a:p>
            <a:r>
              <a:rPr sz="950" b="0" i="0" u="sng">
                <a:solidFill>
                  <a:srgbClr val="1F7575"/>
                </a:solidFill>
                <a:latin typeface="Arial"/>
                <a:hlinkClick r:id="rId4"/>
              </a:rPr>
              <a:t>Open supplied research share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90488" y="1243584"/>
            <a:ext cx="544068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tIns="118872" rIns="155448" bIns="100584"/>
          <a:lstStyle/>
          <a:p>
            <a:pPr algn="ctr">
              <a:spcAft>
                <a:spcPts val="400"/>
              </a:spcAft>
            </a:pPr>
            <a:r>
              <a:rPr sz="1300" b="1" i="0" u="none">
                <a:solidFill>
                  <a:srgbClr val="1F364E"/>
                </a:solidFill>
                <a:latin typeface="Arial"/>
              </a:rPr>
              <a:t>CSS THERMAL MODEL FOUNDATION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 u="none">
                <a:solidFill>
                  <a:srgbClr val="2A3138"/>
                </a:solidFill>
                <a:latin typeface="Arial"/>
              </a:rPr>
              <a:t>Boberg, T.C. &amp; Lantz, R.B. (1966), “Calculation of the Production Rate of a Thermally Stimulated Well,” SPE Journal. Referenced by the supplied research; confirm final bibliographic metadata before submission.</a:t>
            </a:r>
          </a:p>
          <a:p>
            <a:r>
              <a:rPr sz="950" b="0" i="0" u="sng">
                <a:solidFill>
                  <a:srgbClr val="1F7575"/>
                </a:solidFill>
                <a:latin typeface="Arial"/>
                <a:hlinkClick r:id="rId5"/>
              </a:rPr>
              <a:t>Search Crossref title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30352" y="3310128"/>
            <a:ext cx="544068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tIns="118872" rIns="155448" bIns="100584"/>
          <a:lstStyle/>
          <a:p>
            <a:pPr algn="ctr">
              <a:spcAft>
                <a:spcPts val="400"/>
              </a:spcAft>
            </a:pPr>
            <a:r>
              <a:rPr sz="1300" b="1" i="0" u="none">
                <a:solidFill>
                  <a:srgbClr val="1F364E"/>
                </a:solidFill>
                <a:latin typeface="Arial"/>
              </a:rPr>
              <a:t>SRP ROD-DYNAMICS FOUNDATION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 u="none">
                <a:solidFill>
                  <a:srgbClr val="2A3138"/>
                </a:solidFill>
                <a:latin typeface="Arial"/>
              </a:rPr>
              <a:t>Gibbs, S.G. (1963), “Computing Downhole Pump Cards from Surface Dynamometer Cards,” SPE Journal 3(1), as cited in rod_dynamics.py. Verify exact citation details before final submission.</a:t>
            </a:r>
          </a:p>
          <a:p>
            <a:r>
              <a:rPr sz="950" b="0" i="0" u="sng">
                <a:solidFill>
                  <a:srgbClr val="1F7575"/>
                </a:solidFill>
                <a:latin typeface="Arial"/>
                <a:hlinkClick r:id="rId6"/>
              </a:rPr>
              <a:t>Search title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90488" y="3310128"/>
            <a:ext cx="544068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tIns="118872" rIns="155448" bIns="100584"/>
          <a:lstStyle/>
          <a:p>
            <a:pPr algn="ctr">
              <a:spcAft>
                <a:spcPts val="400"/>
              </a:spcAft>
            </a:pPr>
            <a:r>
              <a:rPr sz="1300" b="1" i="0" u="none">
                <a:solidFill>
                  <a:srgbClr val="1F364E"/>
                </a:solidFill>
                <a:latin typeface="Arial"/>
              </a:rPr>
              <a:t>IMPLEMENTATION / REPRODUCIBILITY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 u="none">
                <a:solidFill>
                  <a:srgbClr val="2A3138"/>
                </a:solidFill>
                <a:latin typeface="Arial"/>
              </a:rPr>
              <a:t>Project source: backend/app/physics (thermal, viscosity, wellbore, rod dynamics and risk detector), backend/main.py (REST/WebSocket demo API), frontend/src (React UI).</a:t>
            </a:r>
          </a:p>
          <a:p>
            <a:r>
              <a:rPr sz="950" b="0" i="0" u="sng">
                <a:solidFill>
                  <a:srgbClr val="1F7575"/>
                </a:solidFill>
                <a:latin typeface="Arial"/>
                <a:hlinkClick r:id="rId7"/>
              </a:rPr>
              <a:t>View project repository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85216" y="5394960"/>
            <a:ext cx="1097280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sz="1100" b="1" i="0" u="none">
                <a:solidFill>
                  <a:srgbClr val="8B5A2B"/>
                </a:solidFill>
                <a:latin typeface="Arial"/>
              </a:rPr>
              <a:t>Research note: the supplied PDF has no formal bibliography and labels itself AI-generated; validate field statistics and assumptions with Oil India and primary literature.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